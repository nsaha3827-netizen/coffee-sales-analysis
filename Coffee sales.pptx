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1430000" cy="14287500"/>
  <p:notesSz cx="6858000" cy="9144000"/>
  <p:embeddedFontLst>
    <p:embeddedFont>
      <p:font typeface="Raleway" panose="020F0502020204030204" pitchFamily="2" charset="0"/>
      <p:regular r:id="rId19"/>
    </p:embeddedFont>
    <p:embeddedFont>
      <p:font typeface="Raleway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654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14.sv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10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2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10" Type="http://schemas.openxmlformats.org/officeDocument/2006/relationships/image" Target="../media/image10.svg"/><Relationship Id="rId4" Type="http://schemas.openxmlformats.org/officeDocument/2006/relationships/image" Target="../media/image16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14.sv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10.svg"/><Relationship Id="rId9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52444" y="3532571"/>
            <a:ext cx="7052284" cy="482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4"/>
              </a:lnSpc>
            </a:pPr>
            <a:r>
              <a:rPr lang="en-US" sz="1193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Coffee sales analysis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93483" y="8069289"/>
            <a:ext cx="7370205" cy="1513384"/>
            <a:chOff x="0" y="0"/>
            <a:chExt cx="1636919" cy="3361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6919" cy="336122"/>
            </a:xfrm>
            <a:custGeom>
              <a:avLst/>
              <a:gdLst/>
              <a:ahLst/>
              <a:cxnLst/>
              <a:rect l="l" t="t" r="r" b="b"/>
              <a:pathLst>
                <a:path w="1636919" h="336122">
                  <a:moveTo>
                    <a:pt x="0" y="0"/>
                  </a:moveTo>
                  <a:lnTo>
                    <a:pt x="1636919" y="0"/>
                  </a:lnTo>
                  <a:lnTo>
                    <a:pt x="1636919" y="336122"/>
                  </a:lnTo>
                  <a:lnTo>
                    <a:pt x="0" y="3361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36919" cy="374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556359" y="2623598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209729" y="134506"/>
            <a:ext cx="3135654" cy="3677206"/>
          </a:xfrm>
          <a:custGeom>
            <a:avLst/>
            <a:gdLst/>
            <a:ahLst/>
            <a:cxnLst/>
            <a:rect l="l" t="t" r="r" b="b"/>
            <a:pathLst>
              <a:path w="3135654" h="3677206">
                <a:moveTo>
                  <a:pt x="0" y="0"/>
                </a:moveTo>
                <a:lnTo>
                  <a:pt x="3135654" y="0"/>
                </a:lnTo>
                <a:lnTo>
                  <a:pt x="3135654" y="3677206"/>
                </a:lnTo>
                <a:lnTo>
                  <a:pt x="0" y="3677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>
            <a:off x="7592406" y="785886"/>
            <a:ext cx="1824211" cy="2139267"/>
          </a:xfrm>
          <a:custGeom>
            <a:avLst/>
            <a:gdLst/>
            <a:ahLst/>
            <a:cxnLst/>
            <a:rect l="l" t="t" r="r" b="b"/>
            <a:pathLst>
              <a:path w="1824211" h="2139267">
                <a:moveTo>
                  <a:pt x="0" y="0"/>
                </a:moveTo>
                <a:lnTo>
                  <a:pt x="1824211" y="0"/>
                </a:lnTo>
                <a:lnTo>
                  <a:pt x="1824211" y="2139266"/>
                </a:lnTo>
                <a:lnTo>
                  <a:pt x="0" y="2139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81457" y="8038460"/>
            <a:ext cx="6262159" cy="165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4"/>
              </a:lnSpc>
            </a:pPr>
            <a:r>
              <a:rPr lang="en-US" sz="11937" b="1">
                <a:solidFill>
                  <a:srgbClr val="FFBD59"/>
                </a:solidFill>
                <a:latin typeface="Raleway Bold"/>
                <a:ea typeface="Raleway Bold"/>
                <a:cs typeface="Raleway Bold"/>
                <a:sym typeface="Raleway Bold"/>
              </a:rPr>
              <a:t>2024-25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359" y="11632873"/>
            <a:ext cx="3848164" cy="52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By Niloy Saha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0" y="13675482"/>
            <a:ext cx="942936" cy="24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 b="1">
                <a:solidFill>
                  <a:srgbClr val="000000">
                    <a:alpha val="72941"/>
                  </a:srgbClr>
                </a:solidFill>
                <a:latin typeface="Raleway Bold"/>
                <a:ea typeface="Raleway Bold"/>
                <a:cs typeface="Raleway Bold"/>
                <a:sym typeface="Raleway Bold"/>
              </a:rPr>
              <a:t>page 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303317" y="3279805"/>
            <a:ext cx="4256413" cy="260555"/>
          </a:xfrm>
          <a:custGeom>
            <a:avLst/>
            <a:gdLst/>
            <a:ahLst/>
            <a:cxnLst/>
            <a:rect l="l" t="t" r="r" b="b"/>
            <a:pathLst>
              <a:path w="4256413" h="260555">
                <a:moveTo>
                  <a:pt x="0" y="0"/>
                </a:moveTo>
                <a:lnTo>
                  <a:pt x="4256413" y="0"/>
                </a:lnTo>
                <a:lnTo>
                  <a:pt x="4256413" y="260555"/>
                </a:lnTo>
                <a:lnTo>
                  <a:pt x="0" y="2605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70941" y="46892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8531" y="6453305"/>
            <a:ext cx="8247780" cy="8247780"/>
          </a:xfrm>
          <a:custGeom>
            <a:avLst/>
            <a:gdLst/>
            <a:ahLst/>
            <a:cxnLst/>
            <a:rect l="l" t="t" r="r" b="b"/>
            <a:pathLst>
              <a:path w="8247780" h="8247780">
                <a:moveTo>
                  <a:pt x="0" y="0"/>
                </a:moveTo>
                <a:lnTo>
                  <a:pt x="8247780" y="0"/>
                </a:lnTo>
                <a:lnTo>
                  <a:pt x="8247780" y="8247780"/>
                </a:lnTo>
                <a:lnTo>
                  <a:pt x="0" y="8247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00979" y="1346917"/>
            <a:ext cx="6942245" cy="198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9"/>
              </a:lnSpc>
            </a:pPr>
            <a:r>
              <a:rPr lang="en-US" sz="7303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About our company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0979" y="3967878"/>
            <a:ext cx="7908391" cy="557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398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BrewBeans Coffee Co. is a specialty coffee retailer of Ukraine known for premium blends and strong customer loyalty. Established in 2012, it runs café chains and online subscriptions, focusing on high-quality coffee and personalized experiences.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2880" y="13572060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556359" y="917890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9"/>
                </a:moveTo>
                <a:lnTo>
                  <a:pt x="0" y="747049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6359" y="7316560"/>
            <a:ext cx="7705090" cy="7705090"/>
          </a:xfrm>
          <a:custGeom>
            <a:avLst/>
            <a:gdLst/>
            <a:ahLst/>
            <a:cxnLst/>
            <a:rect l="l" t="t" r="r" b="b"/>
            <a:pathLst>
              <a:path w="7705090" h="7705090">
                <a:moveTo>
                  <a:pt x="0" y="0"/>
                </a:moveTo>
                <a:lnTo>
                  <a:pt x="7705090" y="0"/>
                </a:lnTo>
                <a:lnTo>
                  <a:pt x="7705090" y="7705091"/>
                </a:lnTo>
                <a:lnTo>
                  <a:pt x="0" y="77050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5120">
            <a:off x="1745579" y="3370465"/>
            <a:ext cx="4339030" cy="265613"/>
          </a:xfrm>
          <a:custGeom>
            <a:avLst/>
            <a:gdLst/>
            <a:ahLst/>
            <a:cxnLst/>
            <a:rect l="l" t="t" r="r" b="b"/>
            <a:pathLst>
              <a:path w="4339030" h="265613">
                <a:moveTo>
                  <a:pt x="0" y="0"/>
                </a:moveTo>
                <a:lnTo>
                  <a:pt x="4339030" y="0"/>
                </a:lnTo>
                <a:lnTo>
                  <a:pt x="4339030" y="265612"/>
                </a:lnTo>
                <a:lnTo>
                  <a:pt x="0" y="265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21332" y="240632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9793" y="3926163"/>
            <a:ext cx="9144000" cy="700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8"/>
              </a:lnSpc>
            </a:pPr>
            <a:endParaRPr/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Customer purchasing preferences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Types of payment 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Revenue from different payment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Varieties of coffee and there prices 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Monthly customer count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Monthly revenue 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Total revenue from different coffees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Top selling coffee varieties</a:t>
            </a:r>
          </a:p>
          <a:p>
            <a:pPr marL="659268" lvl="1" indent="-329634" algn="l">
              <a:lnSpc>
                <a:spcPts val="5618"/>
              </a:lnSpc>
              <a:buFont typeface="Arial"/>
              <a:buChar char="•"/>
            </a:pPr>
            <a:r>
              <a:rPr lang="en-US" sz="3053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Monthly sales of all coffee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6359" y="2123721"/>
            <a:ext cx="7653010" cy="132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9562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Our goals</a:t>
            </a:r>
          </a:p>
        </p:txBody>
      </p:sp>
      <p:sp>
        <p:nvSpPr>
          <p:cNvPr id="10" name="TextBox 10"/>
          <p:cNvSpPr txBox="1"/>
          <p:nvPr/>
        </p:nvSpPr>
        <p:spPr>
          <a:xfrm rot="79345">
            <a:off x="10133608" y="13576195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556359" y="917890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9"/>
                </a:moveTo>
                <a:lnTo>
                  <a:pt x="0" y="747049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5120">
            <a:off x="1558071" y="4498132"/>
            <a:ext cx="3115328" cy="190704"/>
          </a:xfrm>
          <a:custGeom>
            <a:avLst/>
            <a:gdLst/>
            <a:ahLst/>
            <a:cxnLst/>
            <a:rect l="l" t="t" r="r" b="b"/>
            <a:pathLst>
              <a:path w="3115328" h="190704">
                <a:moveTo>
                  <a:pt x="0" y="0"/>
                </a:moveTo>
                <a:lnTo>
                  <a:pt x="3115327" y="0"/>
                </a:lnTo>
                <a:lnTo>
                  <a:pt x="3115327" y="190704"/>
                </a:lnTo>
                <a:lnTo>
                  <a:pt x="0" y="190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04874" y="215440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420006" y="5687781"/>
            <a:ext cx="4538385" cy="3630583"/>
            <a:chOff x="0" y="0"/>
            <a:chExt cx="1075765" cy="860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5765" cy="860583"/>
            </a:xfrm>
            <a:custGeom>
              <a:avLst/>
              <a:gdLst/>
              <a:ahLst/>
              <a:cxnLst/>
              <a:rect l="l" t="t" r="r" b="b"/>
              <a:pathLst>
                <a:path w="1075765" h="860583">
                  <a:moveTo>
                    <a:pt x="0" y="0"/>
                  </a:moveTo>
                  <a:lnTo>
                    <a:pt x="1075765" y="0"/>
                  </a:lnTo>
                  <a:lnTo>
                    <a:pt x="1075765" y="860583"/>
                  </a:lnTo>
                  <a:lnTo>
                    <a:pt x="0" y="86058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075765" cy="832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521943" y="5781517"/>
            <a:ext cx="4334510" cy="3489648"/>
          </a:xfrm>
          <a:custGeom>
            <a:avLst/>
            <a:gdLst/>
            <a:ahLst/>
            <a:cxnLst/>
            <a:rect l="l" t="t" r="r" b="b"/>
            <a:pathLst>
              <a:path w="4334510" h="3489648">
                <a:moveTo>
                  <a:pt x="0" y="0"/>
                </a:moveTo>
                <a:lnTo>
                  <a:pt x="4334511" y="0"/>
                </a:lnTo>
                <a:lnTo>
                  <a:pt x="4334511" y="3489648"/>
                </a:lnTo>
                <a:lnTo>
                  <a:pt x="0" y="34896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6359" y="2123721"/>
            <a:ext cx="7653010" cy="259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9562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About the dataset</a:t>
            </a:r>
          </a:p>
        </p:txBody>
      </p:sp>
      <p:sp>
        <p:nvSpPr>
          <p:cNvPr id="12" name="TextBox 12"/>
          <p:cNvSpPr txBox="1"/>
          <p:nvPr/>
        </p:nvSpPr>
        <p:spPr>
          <a:xfrm rot="94162">
            <a:off x="10012028" y="13592070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8296" y="5113373"/>
            <a:ext cx="4863647" cy="420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98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The dataset contains 3,636 rows and 6 columns, capturing coffee sales transactions for the entire year.</a:t>
            </a:r>
          </a:p>
          <a:p>
            <a:pPr algn="l">
              <a:lnSpc>
                <a:spcPts val="4184"/>
              </a:lnSpc>
            </a:pPr>
            <a:endParaRPr lang="en-US" sz="3985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4184"/>
              </a:lnSpc>
            </a:pPr>
            <a:r>
              <a:rPr lang="en-US" sz="398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Columns 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0173559"/>
            <a:ext cx="5933664" cy="265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Date</a:t>
            </a:r>
          </a:p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Datetime</a:t>
            </a:r>
          </a:p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Cash Type</a:t>
            </a:r>
          </a:p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Card</a:t>
            </a:r>
          </a:p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Money</a:t>
            </a:r>
          </a:p>
          <a:p>
            <a:pPr marL="715835" lvl="1" indent="-357917" algn="l">
              <a:lnSpc>
                <a:spcPts val="3481"/>
              </a:lnSpc>
              <a:buFont typeface="Arial"/>
              <a:buChar char="•"/>
            </a:pPr>
            <a:r>
              <a:rPr lang="en-US" sz="331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Coffee Name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5120">
            <a:off x="1780466" y="4209898"/>
            <a:ext cx="3115328" cy="190704"/>
          </a:xfrm>
          <a:custGeom>
            <a:avLst/>
            <a:gdLst/>
            <a:ahLst/>
            <a:cxnLst/>
            <a:rect l="l" t="t" r="r" b="b"/>
            <a:pathLst>
              <a:path w="3115328" h="190704">
                <a:moveTo>
                  <a:pt x="0" y="0"/>
                </a:moveTo>
                <a:lnTo>
                  <a:pt x="3115328" y="0"/>
                </a:lnTo>
                <a:lnTo>
                  <a:pt x="3115328" y="190704"/>
                </a:lnTo>
                <a:lnTo>
                  <a:pt x="0" y="190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40043" y="151131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505963" y="3777934"/>
            <a:ext cx="3325560" cy="1308854"/>
            <a:chOff x="0" y="0"/>
            <a:chExt cx="788281" cy="3102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8281" cy="310247"/>
            </a:xfrm>
            <a:custGeom>
              <a:avLst/>
              <a:gdLst/>
              <a:ahLst/>
              <a:cxnLst/>
              <a:rect l="l" t="t" r="r" b="b"/>
              <a:pathLst>
                <a:path w="788281" h="310247">
                  <a:moveTo>
                    <a:pt x="0" y="0"/>
                  </a:moveTo>
                  <a:lnTo>
                    <a:pt x="788281" y="0"/>
                  </a:lnTo>
                  <a:lnTo>
                    <a:pt x="788281" y="310247"/>
                  </a:lnTo>
                  <a:lnTo>
                    <a:pt x="0" y="31024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788281" cy="28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572282" y="3881831"/>
            <a:ext cx="3132066" cy="1105566"/>
          </a:xfrm>
          <a:custGeom>
            <a:avLst/>
            <a:gdLst/>
            <a:ahLst/>
            <a:cxnLst/>
            <a:rect l="l" t="t" r="r" b="b"/>
            <a:pathLst>
              <a:path w="3132066" h="1105566">
                <a:moveTo>
                  <a:pt x="0" y="0"/>
                </a:moveTo>
                <a:lnTo>
                  <a:pt x="3132066" y="0"/>
                </a:lnTo>
                <a:lnTo>
                  <a:pt x="3132066" y="1105566"/>
                </a:lnTo>
                <a:lnTo>
                  <a:pt x="0" y="1105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60167" b="-232337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431266" y="5401112"/>
            <a:ext cx="2991933" cy="2583448"/>
            <a:chOff x="0" y="0"/>
            <a:chExt cx="709199" cy="6123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9199" cy="612373"/>
            </a:xfrm>
            <a:custGeom>
              <a:avLst/>
              <a:gdLst/>
              <a:ahLst/>
              <a:cxnLst/>
              <a:rect l="l" t="t" r="r" b="b"/>
              <a:pathLst>
                <a:path w="709199" h="612373">
                  <a:moveTo>
                    <a:pt x="0" y="0"/>
                  </a:moveTo>
                  <a:lnTo>
                    <a:pt x="709199" y="0"/>
                  </a:lnTo>
                  <a:lnTo>
                    <a:pt x="709199" y="612373"/>
                  </a:lnTo>
                  <a:lnTo>
                    <a:pt x="0" y="61237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709199" cy="583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505963" y="5488643"/>
            <a:ext cx="2842538" cy="2408386"/>
          </a:xfrm>
          <a:custGeom>
            <a:avLst/>
            <a:gdLst/>
            <a:ahLst/>
            <a:cxnLst/>
            <a:rect l="l" t="t" r="r" b="b"/>
            <a:pathLst>
              <a:path w="2842538" h="2408386">
                <a:moveTo>
                  <a:pt x="0" y="0"/>
                </a:moveTo>
                <a:lnTo>
                  <a:pt x="2842538" y="0"/>
                </a:lnTo>
                <a:lnTo>
                  <a:pt x="2842538" y="2408386"/>
                </a:lnTo>
                <a:lnTo>
                  <a:pt x="0" y="2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45574" r="-6840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93670" y="1640349"/>
            <a:ext cx="7653010" cy="259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9562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Data cleaning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5284" y="13693425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05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637720" y="8196430"/>
            <a:ext cx="5349753" cy="4514054"/>
            <a:chOff x="0" y="0"/>
            <a:chExt cx="1268090" cy="10699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68090" cy="1069998"/>
            </a:xfrm>
            <a:custGeom>
              <a:avLst/>
              <a:gdLst/>
              <a:ahLst/>
              <a:cxnLst/>
              <a:rect l="l" t="t" r="r" b="b"/>
              <a:pathLst>
                <a:path w="1268090" h="1069998">
                  <a:moveTo>
                    <a:pt x="0" y="0"/>
                  </a:moveTo>
                  <a:lnTo>
                    <a:pt x="1268090" y="0"/>
                  </a:lnTo>
                  <a:lnTo>
                    <a:pt x="1268090" y="1069998"/>
                  </a:lnTo>
                  <a:lnTo>
                    <a:pt x="0" y="106999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268090" cy="1041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5763851" y="8298885"/>
            <a:ext cx="5067671" cy="4281776"/>
          </a:xfrm>
          <a:custGeom>
            <a:avLst/>
            <a:gdLst/>
            <a:ahLst/>
            <a:cxnLst/>
            <a:rect l="l" t="t" r="r" b="b"/>
            <a:pathLst>
              <a:path w="5067671" h="4281776">
                <a:moveTo>
                  <a:pt x="0" y="0"/>
                </a:moveTo>
                <a:lnTo>
                  <a:pt x="5067671" y="0"/>
                </a:lnTo>
                <a:lnTo>
                  <a:pt x="5067671" y="4281776"/>
                </a:lnTo>
                <a:lnTo>
                  <a:pt x="0" y="4281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70361" y="5707949"/>
            <a:ext cx="3927144" cy="746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250" lvl="1" indent="-313625" algn="l">
              <a:lnSpc>
                <a:spcPts val="4212"/>
              </a:lnSpc>
              <a:buFont typeface="Arial"/>
              <a:buChar char="•"/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No duplicate</a:t>
            </a:r>
            <a:r>
              <a:rPr lang="en-US" sz="2905" spc="7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records were found in the dataset.</a:t>
            </a:r>
          </a:p>
          <a:p>
            <a:pPr marL="627250" lvl="1" indent="-313625" algn="l">
              <a:lnSpc>
                <a:spcPts val="4212"/>
              </a:lnSpc>
              <a:buFont typeface="Arial"/>
              <a:buChar char="•"/>
            </a:pPr>
            <a:r>
              <a:rPr lang="en-US" sz="2905" spc="7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The dataset contains </a:t>
            </a: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89 missing values </a:t>
            </a:r>
            <a:r>
              <a:rPr lang="en-US" sz="2905" spc="7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the card column.</a:t>
            </a:r>
          </a:p>
          <a:p>
            <a:pPr marL="627250" lvl="1" indent="-313625" algn="l">
              <a:lnSpc>
                <a:spcPts val="4212"/>
              </a:lnSpc>
              <a:buFont typeface="Arial"/>
              <a:buChar char="•"/>
            </a:pPr>
            <a:r>
              <a:rPr lang="en-US" sz="2905" spc="7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The card column was </a:t>
            </a: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dropped </a:t>
            </a:r>
            <a:r>
              <a:rPr lang="en-US" sz="2905" spc="7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because it does </a:t>
            </a: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not contribute to the analysis</a:t>
            </a:r>
          </a:p>
          <a:p>
            <a:pPr algn="l">
              <a:lnSpc>
                <a:spcPts val="4212"/>
              </a:lnSpc>
            </a:pPr>
            <a:endParaRPr lang="en-US" sz="2905" b="1" spc="75">
              <a:solidFill>
                <a:srgbClr val="FFF4E2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56081" y="7694758"/>
            <a:ext cx="5848267" cy="4786983"/>
            <a:chOff x="0" y="0"/>
            <a:chExt cx="1386256" cy="1134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6256" cy="1134692"/>
            </a:xfrm>
            <a:custGeom>
              <a:avLst/>
              <a:gdLst/>
              <a:ahLst/>
              <a:cxnLst/>
              <a:rect l="l" t="t" r="r" b="b"/>
              <a:pathLst>
                <a:path w="1386256" h="1134692">
                  <a:moveTo>
                    <a:pt x="0" y="0"/>
                  </a:moveTo>
                  <a:lnTo>
                    <a:pt x="1386256" y="0"/>
                  </a:lnTo>
                  <a:lnTo>
                    <a:pt x="1386256" y="1134692"/>
                  </a:lnTo>
                  <a:lnTo>
                    <a:pt x="0" y="113469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386256" cy="1106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5120">
            <a:off x="1780466" y="5021409"/>
            <a:ext cx="3115328" cy="190704"/>
          </a:xfrm>
          <a:custGeom>
            <a:avLst/>
            <a:gdLst/>
            <a:ahLst/>
            <a:cxnLst/>
            <a:rect l="l" t="t" r="r" b="b"/>
            <a:pathLst>
              <a:path w="3115328" h="190704">
                <a:moveTo>
                  <a:pt x="0" y="0"/>
                </a:moveTo>
                <a:lnTo>
                  <a:pt x="3115328" y="0"/>
                </a:lnTo>
                <a:lnTo>
                  <a:pt x="3115328" y="190704"/>
                </a:lnTo>
                <a:lnTo>
                  <a:pt x="0" y="190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30292" y="159876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43000" y="5842752"/>
            <a:ext cx="5533249" cy="1505166"/>
            <a:chOff x="0" y="0"/>
            <a:chExt cx="1311585" cy="3567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1585" cy="356780"/>
            </a:xfrm>
            <a:custGeom>
              <a:avLst/>
              <a:gdLst/>
              <a:ahLst/>
              <a:cxnLst/>
              <a:rect l="l" t="t" r="r" b="b"/>
              <a:pathLst>
                <a:path w="1311585" h="356780">
                  <a:moveTo>
                    <a:pt x="0" y="0"/>
                  </a:moveTo>
                  <a:lnTo>
                    <a:pt x="1311585" y="0"/>
                  </a:lnTo>
                  <a:lnTo>
                    <a:pt x="1311585" y="356780"/>
                  </a:lnTo>
                  <a:lnTo>
                    <a:pt x="0" y="35678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311585" cy="32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00294" y="5913956"/>
            <a:ext cx="5384248" cy="1369720"/>
          </a:xfrm>
          <a:custGeom>
            <a:avLst/>
            <a:gdLst/>
            <a:ahLst/>
            <a:cxnLst/>
            <a:rect l="l" t="t" r="r" b="b"/>
            <a:pathLst>
              <a:path w="5384248" h="1369720">
                <a:moveTo>
                  <a:pt x="0" y="0"/>
                </a:moveTo>
                <a:lnTo>
                  <a:pt x="5384249" y="0"/>
                </a:lnTo>
                <a:lnTo>
                  <a:pt x="5384249" y="1369720"/>
                </a:lnTo>
                <a:lnTo>
                  <a:pt x="0" y="13697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50586" b="-223982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45597" y="7818830"/>
            <a:ext cx="5646518" cy="4538837"/>
          </a:xfrm>
          <a:custGeom>
            <a:avLst/>
            <a:gdLst/>
            <a:ahLst/>
            <a:cxnLst/>
            <a:rect l="l" t="t" r="r" b="b"/>
            <a:pathLst>
              <a:path w="5646518" h="4538837">
                <a:moveTo>
                  <a:pt x="0" y="0"/>
                </a:moveTo>
                <a:lnTo>
                  <a:pt x="5646518" y="0"/>
                </a:lnTo>
                <a:lnTo>
                  <a:pt x="5646518" y="4538838"/>
                </a:lnTo>
                <a:lnTo>
                  <a:pt x="0" y="4538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152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43000" y="1551235"/>
            <a:ext cx="7018926" cy="343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3"/>
              </a:lnSpc>
            </a:pPr>
            <a:r>
              <a:rPr lang="en-US" sz="84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Customer purchasing preferences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32880" y="13718670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3999" y="7512527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382" y="8201334"/>
            <a:ext cx="3713081" cy="5244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823" lvl="1" indent="-240412" algn="l">
              <a:lnSpc>
                <a:spcPts val="3451"/>
              </a:lnSpc>
              <a:buFont typeface="Arial"/>
              <a:buChar char="•"/>
            </a:pP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 with Milk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is the 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most preferred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drink (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22.7%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marL="480823" lvl="1" indent="-240412" algn="l">
              <a:lnSpc>
                <a:spcPts val="3451"/>
              </a:lnSpc>
              <a:buFont typeface="Arial"/>
              <a:buChar char="•"/>
            </a:pP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Latte 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is the 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second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most popular choice (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21.5%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marL="480823" lvl="1" indent="-240412" algn="l">
              <a:lnSpc>
                <a:spcPts val="3451"/>
              </a:lnSpc>
              <a:buFont typeface="Arial"/>
              <a:buChar char="•"/>
            </a:pP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 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ranks 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third 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customer preference (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15.9%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marL="480823" lvl="1" indent="-240412" algn="l">
              <a:lnSpc>
                <a:spcPts val="3451"/>
              </a:lnSpc>
              <a:buFont typeface="Arial"/>
              <a:buChar char="•"/>
            </a:pP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Together these three drinks make up </a:t>
            </a:r>
            <a:r>
              <a:rPr lang="en-US" sz="2227" b="1" spc="57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60%+</a:t>
            </a:r>
            <a:r>
              <a:rPr lang="en-US" sz="2227" spc="57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of customer choices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527594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12596" y="129772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295332" y="4142335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6723" y="5664313"/>
            <a:ext cx="7522314" cy="1440924"/>
            <a:chOff x="0" y="0"/>
            <a:chExt cx="1783067" cy="341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3067" cy="341552"/>
            </a:xfrm>
            <a:custGeom>
              <a:avLst/>
              <a:gdLst/>
              <a:ahLst/>
              <a:cxnLst/>
              <a:rect l="l" t="t" r="r" b="b"/>
              <a:pathLst>
                <a:path w="1783067" h="341552">
                  <a:moveTo>
                    <a:pt x="0" y="0"/>
                  </a:moveTo>
                  <a:lnTo>
                    <a:pt x="1783067" y="0"/>
                  </a:lnTo>
                  <a:lnTo>
                    <a:pt x="1783067" y="341552"/>
                  </a:lnTo>
                  <a:lnTo>
                    <a:pt x="0" y="34155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783067" cy="312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20235" y="8456119"/>
            <a:ext cx="5166049" cy="5261276"/>
            <a:chOff x="0" y="0"/>
            <a:chExt cx="1224545" cy="12471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4545" cy="1247117"/>
            </a:xfrm>
            <a:custGeom>
              <a:avLst/>
              <a:gdLst/>
              <a:ahLst/>
              <a:cxnLst/>
              <a:rect l="l" t="t" r="r" b="b"/>
              <a:pathLst>
                <a:path w="1224545" h="1247117">
                  <a:moveTo>
                    <a:pt x="0" y="0"/>
                  </a:moveTo>
                  <a:lnTo>
                    <a:pt x="1224545" y="0"/>
                  </a:lnTo>
                  <a:lnTo>
                    <a:pt x="1224545" y="1247117"/>
                  </a:lnTo>
                  <a:lnTo>
                    <a:pt x="0" y="12471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224545" cy="1218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3670" y="5700847"/>
            <a:ext cx="7333400" cy="1335197"/>
          </a:xfrm>
          <a:custGeom>
            <a:avLst/>
            <a:gdLst/>
            <a:ahLst/>
            <a:cxnLst/>
            <a:rect l="l" t="t" r="r" b="b"/>
            <a:pathLst>
              <a:path w="7333400" h="1335197">
                <a:moveTo>
                  <a:pt x="0" y="0"/>
                </a:moveTo>
                <a:lnTo>
                  <a:pt x="7333400" y="0"/>
                </a:lnTo>
                <a:lnTo>
                  <a:pt x="7333400" y="1335197"/>
                </a:lnTo>
                <a:lnTo>
                  <a:pt x="0" y="13351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032" b="-29433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354294" y="8657811"/>
            <a:ext cx="4932706" cy="4921406"/>
          </a:xfrm>
          <a:custGeom>
            <a:avLst/>
            <a:gdLst/>
            <a:ahLst/>
            <a:cxnLst/>
            <a:rect l="l" t="t" r="r" b="b"/>
            <a:pathLst>
              <a:path w="4932706" h="4921406">
                <a:moveTo>
                  <a:pt x="0" y="0"/>
                </a:moveTo>
                <a:lnTo>
                  <a:pt x="4932706" y="0"/>
                </a:lnTo>
                <a:lnTo>
                  <a:pt x="4932706" y="4921407"/>
                </a:lnTo>
                <a:lnTo>
                  <a:pt x="0" y="49214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2656" r="-10226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8740" y="8756834"/>
            <a:ext cx="4395634" cy="226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our shops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97.6%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of customers use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card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for payment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Only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 2.4%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of them use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cash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3670" y="1802460"/>
            <a:ext cx="7018926" cy="230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3"/>
              </a:lnSpc>
            </a:pPr>
            <a:r>
              <a:rPr lang="en-US" sz="84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Types of payment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6723" y="8149815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07</a:t>
            </a:r>
          </a:p>
        </p:txBody>
      </p:sp>
      <p:sp>
        <p:nvSpPr>
          <p:cNvPr id="18" name="Freeform 18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85859" y="92218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295332" y="4799560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93670" y="5664313"/>
            <a:ext cx="8174861" cy="2205193"/>
            <a:chOff x="0" y="0"/>
            <a:chExt cx="1937745" cy="522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7745" cy="522712"/>
            </a:xfrm>
            <a:custGeom>
              <a:avLst/>
              <a:gdLst/>
              <a:ahLst/>
              <a:cxnLst/>
              <a:rect l="l" t="t" r="r" b="b"/>
              <a:pathLst>
                <a:path w="1937745" h="522712">
                  <a:moveTo>
                    <a:pt x="0" y="0"/>
                  </a:moveTo>
                  <a:lnTo>
                    <a:pt x="1937745" y="0"/>
                  </a:lnTo>
                  <a:lnTo>
                    <a:pt x="1937745" y="522712"/>
                  </a:lnTo>
                  <a:lnTo>
                    <a:pt x="0" y="52271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937745" cy="494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07964" y="8302809"/>
            <a:ext cx="6196384" cy="4927761"/>
            <a:chOff x="0" y="0"/>
            <a:chExt cx="1468773" cy="1168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8773" cy="1168062"/>
            </a:xfrm>
            <a:custGeom>
              <a:avLst/>
              <a:gdLst/>
              <a:ahLst/>
              <a:cxnLst/>
              <a:rect l="l" t="t" r="r" b="b"/>
              <a:pathLst>
                <a:path w="1468773" h="1168062">
                  <a:moveTo>
                    <a:pt x="0" y="0"/>
                  </a:moveTo>
                  <a:lnTo>
                    <a:pt x="1468773" y="0"/>
                  </a:lnTo>
                  <a:lnTo>
                    <a:pt x="1468773" y="1168062"/>
                  </a:lnTo>
                  <a:lnTo>
                    <a:pt x="0" y="116806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468773" cy="1139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08551" y="5761368"/>
            <a:ext cx="7901614" cy="2005034"/>
          </a:xfrm>
          <a:custGeom>
            <a:avLst/>
            <a:gdLst/>
            <a:ahLst/>
            <a:cxnLst/>
            <a:rect l="l" t="t" r="r" b="b"/>
            <a:pathLst>
              <a:path w="7901614" h="2005034">
                <a:moveTo>
                  <a:pt x="0" y="0"/>
                </a:moveTo>
                <a:lnTo>
                  <a:pt x="7901614" y="0"/>
                </a:lnTo>
                <a:lnTo>
                  <a:pt x="7901614" y="2005034"/>
                </a:lnTo>
                <a:lnTo>
                  <a:pt x="0" y="20050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52463" y="8373719"/>
            <a:ext cx="5965026" cy="4770781"/>
          </a:xfrm>
          <a:custGeom>
            <a:avLst/>
            <a:gdLst/>
            <a:ahLst/>
            <a:cxnLst/>
            <a:rect l="l" t="t" r="r" b="b"/>
            <a:pathLst>
              <a:path w="5965026" h="4770781">
                <a:moveTo>
                  <a:pt x="0" y="0"/>
                </a:moveTo>
                <a:lnTo>
                  <a:pt x="5965026" y="0"/>
                </a:lnTo>
                <a:lnTo>
                  <a:pt x="5965026" y="4770781"/>
                </a:lnTo>
                <a:lnTo>
                  <a:pt x="0" y="47707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40" r="-308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3000" y="1448248"/>
            <a:ext cx="6463156" cy="344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3"/>
              </a:lnSpc>
            </a:pPr>
            <a:r>
              <a:rPr lang="en-US" sz="6422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Revenue from different payment method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8834223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506" y="9465880"/>
            <a:ext cx="3665715" cy="279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777" lvl="1" indent="-330389" algn="l">
              <a:lnSpc>
                <a:spcPts val="4437"/>
              </a:lnSpc>
              <a:buFont typeface="Arial"/>
              <a:buChar char="•"/>
            </a:pPr>
            <a:r>
              <a:rPr lang="en-US" sz="3060" spc="79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Payment made by card is </a:t>
            </a:r>
            <a:r>
              <a:rPr lang="en-US" sz="3060" b="1" spc="79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112245 ₴</a:t>
            </a:r>
          </a:p>
          <a:p>
            <a:pPr marL="660777" lvl="1" indent="-330389" algn="l">
              <a:lnSpc>
                <a:spcPts val="4437"/>
              </a:lnSpc>
              <a:buFont typeface="Arial"/>
              <a:buChar char="•"/>
            </a:pPr>
            <a:r>
              <a:rPr lang="en-US" sz="3060" spc="79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Payment made by cash </a:t>
            </a:r>
            <a:r>
              <a:rPr lang="en-US" sz="3060" b="1" spc="79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3186 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3670" y="1802460"/>
            <a:ext cx="7018926" cy="343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3"/>
              </a:lnSpc>
            </a:pPr>
            <a:r>
              <a:rPr lang="en-US" sz="84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Varieties of Coffee and Their Prices</a:t>
            </a:r>
          </a:p>
        </p:txBody>
      </p:sp>
      <p:sp>
        <p:nvSpPr>
          <p:cNvPr id="3" name="Freeform 3"/>
          <p:cNvSpPr/>
          <p:nvPr/>
        </p:nvSpPr>
        <p:spPr>
          <a:xfrm>
            <a:off x="8389543" y="222164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5120">
            <a:off x="1780537" y="5020423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3"/>
                </a:lnTo>
                <a:lnTo>
                  <a:pt x="0" y="185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16723" y="5664313"/>
            <a:ext cx="5933534" cy="1884906"/>
            <a:chOff x="0" y="0"/>
            <a:chExt cx="1406467" cy="446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6467" cy="446793"/>
            </a:xfrm>
            <a:custGeom>
              <a:avLst/>
              <a:gdLst/>
              <a:ahLst/>
              <a:cxnLst/>
              <a:rect l="l" t="t" r="r" b="b"/>
              <a:pathLst>
                <a:path w="1406467" h="446793">
                  <a:moveTo>
                    <a:pt x="0" y="0"/>
                  </a:moveTo>
                  <a:lnTo>
                    <a:pt x="1406467" y="0"/>
                  </a:lnTo>
                  <a:lnTo>
                    <a:pt x="1406467" y="446793"/>
                  </a:lnTo>
                  <a:lnTo>
                    <a:pt x="0" y="44679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406467" cy="418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93670" y="5756156"/>
            <a:ext cx="5779607" cy="1701219"/>
          </a:xfrm>
          <a:custGeom>
            <a:avLst/>
            <a:gdLst/>
            <a:ahLst/>
            <a:cxnLst/>
            <a:rect l="l" t="t" r="r" b="b"/>
            <a:pathLst>
              <a:path w="5779607" h="1701219">
                <a:moveTo>
                  <a:pt x="0" y="0"/>
                </a:moveTo>
                <a:lnTo>
                  <a:pt x="5779608" y="0"/>
                </a:lnTo>
                <a:lnTo>
                  <a:pt x="5779608" y="1701219"/>
                </a:lnTo>
                <a:lnTo>
                  <a:pt x="0" y="1701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31178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5491261" y="7802886"/>
            <a:ext cx="5329923" cy="5341614"/>
            <a:chOff x="0" y="0"/>
            <a:chExt cx="1263389" cy="1266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3389" cy="1266160"/>
            </a:xfrm>
            <a:custGeom>
              <a:avLst/>
              <a:gdLst/>
              <a:ahLst/>
              <a:cxnLst/>
              <a:rect l="l" t="t" r="r" b="b"/>
              <a:pathLst>
                <a:path w="1263389" h="1266160">
                  <a:moveTo>
                    <a:pt x="0" y="0"/>
                  </a:moveTo>
                  <a:lnTo>
                    <a:pt x="1263389" y="0"/>
                  </a:lnTo>
                  <a:lnTo>
                    <a:pt x="1263389" y="1266160"/>
                  </a:lnTo>
                  <a:lnTo>
                    <a:pt x="0" y="126616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263389" cy="1237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5630094" y="7974910"/>
            <a:ext cx="5074254" cy="5000198"/>
          </a:xfrm>
          <a:custGeom>
            <a:avLst/>
            <a:gdLst/>
            <a:ahLst/>
            <a:cxnLst/>
            <a:rect l="l" t="t" r="r" b="b"/>
            <a:pathLst>
              <a:path w="5074254" h="5000198">
                <a:moveTo>
                  <a:pt x="0" y="0"/>
                </a:moveTo>
                <a:lnTo>
                  <a:pt x="5074254" y="0"/>
                </a:lnTo>
                <a:lnTo>
                  <a:pt x="5074254" y="5000198"/>
                </a:lnTo>
                <a:lnTo>
                  <a:pt x="0" y="50001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3436" r="-848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8897" y="7783780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2349" y="8329713"/>
            <a:ext cx="4678912" cy="50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5130" lvl="1" indent="-232565" algn="l">
              <a:lnSpc>
                <a:spcPts val="3339"/>
              </a:lnSpc>
              <a:buFont typeface="Arial"/>
              <a:buChar char="•"/>
            </a:pP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Latte, Cocoa, Cappuccino, and Hot Chocolate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are the </a:t>
            </a: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most expensive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options.</a:t>
            </a:r>
          </a:p>
          <a:p>
            <a:pPr marL="465130" lvl="1" indent="-232565" algn="l">
              <a:lnSpc>
                <a:spcPts val="3339"/>
              </a:lnSpc>
              <a:buFont typeface="Arial"/>
              <a:buChar char="•"/>
            </a:pP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Americanos 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fall into the </a:t>
            </a: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moderate 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pricing category.</a:t>
            </a:r>
          </a:p>
          <a:p>
            <a:pPr marL="465130" lvl="1" indent="-232565" algn="l">
              <a:lnSpc>
                <a:spcPts val="3339"/>
              </a:lnSpc>
              <a:buFont typeface="Arial"/>
              <a:buChar char="•"/>
            </a:pP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Espresso 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is the </a:t>
            </a: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least expensive 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of all coffee varieties.</a:t>
            </a:r>
          </a:p>
          <a:p>
            <a:pPr marL="465130" lvl="1" indent="-232565" algn="l">
              <a:lnSpc>
                <a:spcPts val="3339"/>
              </a:lnSpc>
              <a:buFont typeface="Arial"/>
              <a:buChar char="•"/>
            </a:pP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Customers tend to favor </a:t>
            </a: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milk-based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and </a:t>
            </a:r>
            <a:r>
              <a:rPr lang="en-US" sz="2154" b="1" spc="56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sweeter drinks</a:t>
            </a:r>
            <a:r>
              <a:rPr lang="en-US" sz="2154" spc="56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rather than stronger coffees.</a:t>
            </a:r>
          </a:p>
          <a:p>
            <a:pPr algn="l">
              <a:lnSpc>
                <a:spcPts val="3339"/>
              </a:lnSpc>
            </a:pPr>
            <a:endParaRPr lang="en-US" sz="2154" spc="56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57628" y="203114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144662" y="4856710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6723" y="5664313"/>
            <a:ext cx="5933534" cy="1798896"/>
            <a:chOff x="0" y="0"/>
            <a:chExt cx="1406467" cy="4264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6467" cy="426405"/>
            </a:xfrm>
            <a:custGeom>
              <a:avLst/>
              <a:gdLst/>
              <a:ahLst/>
              <a:cxnLst/>
              <a:rect l="l" t="t" r="r" b="b"/>
              <a:pathLst>
                <a:path w="1406467" h="426405">
                  <a:moveTo>
                    <a:pt x="0" y="0"/>
                  </a:moveTo>
                  <a:lnTo>
                    <a:pt x="1406467" y="0"/>
                  </a:lnTo>
                  <a:lnTo>
                    <a:pt x="1406467" y="426405"/>
                  </a:lnTo>
                  <a:lnTo>
                    <a:pt x="0" y="426405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406467" cy="397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91261" y="9226127"/>
            <a:ext cx="5329923" cy="3240505"/>
            <a:chOff x="0" y="0"/>
            <a:chExt cx="1263389" cy="768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3389" cy="768120"/>
            </a:xfrm>
            <a:custGeom>
              <a:avLst/>
              <a:gdLst/>
              <a:ahLst/>
              <a:cxnLst/>
              <a:rect l="l" t="t" r="r" b="b"/>
              <a:pathLst>
                <a:path w="1263389" h="768120">
                  <a:moveTo>
                    <a:pt x="0" y="0"/>
                  </a:moveTo>
                  <a:lnTo>
                    <a:pt x="1263389" y="0"/>
                  </a:lnTo>
                  <a:lnTo>
                    <a:pt x="1263389" y="768120"/>
                  </a:lnTo>
                  <a:lnTo>
                    <a:pt x="0" y="76812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263389" cy="739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3670" y="5751017"/>
            <a:ext cx="5776429" cy="1626590"/>
          </a:xfrm>
          <a:custGeom>
            <a:avLst/>
            <a:gdLst/>
            <a:ahLst/>
            <a:cxnLst/>
            <a:rect l="l" t="t" r="r" b="b"/>
            <a:pathLst>
              <a:path w="5776429" h="1626590">
                <a:moveTo>
                  <a:pt x="0" y="0"/>
                </a:moveTo>
                <a:lnTo>
                  <a:pt x="5776429" y="0"/>
                </a:lnTo>
                <a:lnTo>
                  <a:pt x="5776429" y="1626589"/>
                </a:lnTo>
                <a:lnTo>
                  <a:pt x="0" y="1626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3185" b="-26287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88245" y="8038192"/>
            <a:ext cx="4776739" cy="5924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Peak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sales occur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April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showing the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highest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customer demand.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Sales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drop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sharply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May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and stay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low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through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July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A recovery begins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August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with sales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rising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again.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October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shows another strong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increase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sales.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Sales fall again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November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ending the year lower.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5586541" y="9307967"/>
            <a:ext cx="5139364" cy="3076826"/>
          </a:xfrm>
          <a:custGeom>
            <a:avLst/>
            <a:gdLst/>
            <a:ahLst/>
            <a:cxnLst/>
            <a:rect l="l" t="t" r="r" b="b"/>
            <a:pathLst>
              <a:path w="5139364" h="3076826">
                <a:moveTo>
                  <a:pt x="0" y="0"/>
                </a:moveTo>
                <a:lnTo>
                  <a:pt x="5139364" y="0"/>
                </a:lnTo>
                <a:lnTo>
                  <a:pt x="5139364" y="3076826"/>
                </a:lnTo>
                <a:lnTo>
                  <a:pt x="0" y="307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855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37296" y="1630824"/>
            <a:ext cx="7018926" cy="329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8"/>
              </a:lnSpc>
            </a:pPr>
            <a:r>
              <a:rPr lang="en-US" sz="81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Monthly Customer Count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7563202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40043" y="206517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144662" y="4856710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6723" y="5664313"/>
            <a:ext cx="5254187" cy="2015051"/>
            <a:chOff x="0" y="0"/>
            <a:chExt cx="1245437" cy="4776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5437" cy="477642"/>
            </a:xfrm>
            <a:custGeom>
              <a:avLst/>
              <a:gdLst/>
              <a:ahLst/>
              <a:cxnLst/>
              <a:rect l="l" t="t" r="r" b="b"/>
              <a:pathLst>
                <a:path w="1245437" h="477642">
                  <a:moveTo>
                    <a:pt x="0" y="0"/>
                  </a:moveTo>
                  <a:lnTo>
                    <a:pt x="1245437" y="0"/>
                  </a:lnTo>
                  <a:lnTo>
                    <a:pt x="1245437" y="477642"/>
                  </a:lnTo>
                  <a:lnTo>
                    <a:pt x="0" y="47764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245437" cy="449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91261" y="9226127"/>
            <a:ext cx="5329923" cy="3240505"/>
            <a:chOff x="0" y="0"/>
            <a:chExt cx="1263389" cy="768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3389" cy="768120"/>
            </a:xfrm>
            <a:custGeom>
              <a:avLst/>
              <a:gdLst/>
              <a:ahLst/>
              <a:cxnLst/>
              <a:rect l="l" t="t" r="r" b="b"/>
              <a:pathLst>
                <a:path w="1263389" h="768120">
                  <a:moveTo>
                    <a:pt x="0" y="0"/>
                  </a:moveTo>
                  <a:lnTo>
                    <a:pt x="1263389" y="0"/>
                  </a:lnTo>
                  <a:lnTo>
                    <a:pt x="1263389" y="768120"/>
                  </a:lnTo>
                  <a:lnTo>
                    <a:pt x="0" y="76812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263389" cy="739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3670" y="5737224"/>
            <a:ext cx="5114923" cy="1911702"/>
          </a:xfrm>
          <a:custGeom>
            <a:avLst/>
            <a:gdLst/>
            <a:ahLst/>
            <a:cxnLst/>
            <a:rect l="l" t="t" r="r" b="b"/>
            <a:pathLst>
              <a:path w="5114923" h="1911702">
                <a:moveTo>
                  <a:pt x="0" y="0"/>
                </a:moveTo>
                <a:lnTo>
                  <a:pt x="5114923" y="0"/>
                </a:lnTo>
                <a:lnTo>
                  <a:pt x="5114923" y="1911703"/>
                </a:lnTo>
                <a:lnTo>
                  <a:pt x="0" y="19117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" r="-2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537701" y="9280023"/>
            <a:ext cx="5166647" cy="3099068"/>
          </a:xfrm>
          <a:custGeom>
            <a:avLst/>
            <a:gdLst/>
            <a:ahLst/>
            <a:cxnLst/>
            <a:rect l="l" t="t" r="r" b="b"/>
            <a:pathLst>
              <a:path w="5166647" h="3099068">
                <a:moveTo>
                  <a:pt x="0" y="0"/>
                </a:moveTo>
                <a:lnTo>
                  <a:pt x="5166647" y="0"/>
                </a:lnTo>
                <a:lnTo>
                  <a:pt x="5166647" y="3099067"/>
                </a:lnTo>
                <a:lnTo>
                  <a:pt x="0" y="30990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8245" y="8047717"/>
            <a:ext cx="4359589" cy="584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March 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records the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highest 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revenue.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Revenue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drops 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sharply in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April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 small recovery happens in May.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June–July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shows a steady decline.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Revenue starts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rising 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again from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August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October 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shows the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 second-highest peak.</a:t>
            </a:r>
          </a:p>
          <a:p>
            <a:pPr marL="463918" lvl="1" indent="-231959" algn="l">
              <a:lnSpc>
                <a:spcPts val="3330"/>
              </a:lnSpc>
              <a:buFont typeface="Arial"/>
              <a:buChar char="•"/>
            </a:pP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Revenue falls again</a:t>
            </a:r>
            <a:r>
              <a:rPr lang="en-US" sz="2148" spc="55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in </a:t>
            </a:r>
            <a:r>
              <a:rPr lang="en-US" sz="2148" b="1" spc="5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November and December.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296" y="1630824"/>
            <a:ext cx="7018926" cy="329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8"/>
              </a:lnSpc>
            </a:pPr>
            <a:r>
              <a:rPr lang="en-US" sz="81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Monthly revenue trend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5027284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7563202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12596" y="214837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295332" y="4618585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6723" y="5684881"/>
            <a:ext cx="4924842" cy="1860820"/>
            <a:chOff x="0" y="0"/>
            <a:chExt cx="1167370" cy="4410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7370" cy="441083"/>
            </a:xfrm>
            <a:custGeom>
              <a:avLst/>
              <a:gdLst/>
              <a:ahLst/>
              <a:cxnLst/>
              <a:rect l="l" t="t" r="r" b="b"/>
              <a:pathLst>
                <a:path w="1167370" h="441083">
                  <a:moveTo>
                    <a:pt x="0" y="0"/>
                  </a:moveTo>
                  <a:lnTo>
                    <a:pt x="1167370" y="0"/>
                  </a:lnTo>
                  <a:lnTo>
                    <a:pt x="1167370" y="441083"/>
                  </a:lnTo>
                  <a:lnTo>
                    <a:pt x="0" y="44108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167370" cy="412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44728" y="9226127"/>
            <a:ext cx="5476457" cy="3289350"/>
            <a:chOff x="0" y="0"/>
            <a:chExt cx="1298123" cy="7796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8123" cy="779698"/>
            </a:xfrm>
            <a:custGeom>
              <a:avLst/>
              <a:gdLst/>
              <a:ahLst/>
              <a:cxnLst/>
              <a:rect l="l" t="t" r="r" b="b"/>
              <a:pathLst>
                <a:path w="1298123" h="779698">
                  <a:moveTo>
                    <a:pt x="0" y="0"/>
                  </a:moveTo>
                  <a:lnTo>
                    <a:pt x="1298123" y="0"/>
                  </a:lnTo>
                  <a:lnTo>
                    <a:pt x="1298123" y="779698"/>
                  </a:lnTo>
                  <a:lnTo>
                    <a:pt x="0" y="77969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298123" cy="751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3670" y="5773779"/>
            <a:ext cx="4749305" cy="1689429"/>
          </a:xfrm>
          <a:custGeom>
            <a:avLst/>
            <a:gdLst/>
            <a:ahLst/>
            <a:cxnLst/>
            <a:rect l="l" t="t" r="r" b="b"/>
            <a:pathLst>
              <a:path w="4749305" h="1689429">
                <a:moveTo>
                  <a:pt x="0" y="0"/>
                </a:moveTo>
                <a:lnTo>
                  <a:pt x="4749305" y="0"/>
                </a:lnTo>
                <a:lnTo>
                  <a:pt x="4749305" y="1689429"/>
                </a:lnTo>
                <a:lnTo>
                  <a:pt x="0" y="16894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48148" y="9302371"/>
            <a:ext cx="5256200" cy="3088018"/>
          </a:xfrm>
          <a:custGeom>
            <a:avLst/>
            <a:gdLst/>
            <a:ahLst/>
            <a:cxnLst/>
            <a:rect l="l" t="t" r="r" b="b"/>
            <a:pathLst>
              <a:path w="5256200" h="3088018">
                <a:moveTo>
                  <a:pt x="0" y="0"/>
                </a:moveTo>
                <a:lnTo>
                  <a:pt x="5256200" y="0"/>
                </a:lnTo>
                <a:lnTo>
                  <a:pt x="5256200" y="3088018"/>
                </a:lnTo>
                <a:lnTo>
                  <a:pt x="0" y="30880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8245" y="8204384"/>
            <a:ext cx="4776739" cy="5467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Latte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leads in revenue.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 with Milk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ranks second.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Cappuccino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is a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top three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earner.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Espresso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has the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lowest revenue.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Milk and premium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coffees outperform plain ones.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Mid-level earners include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Americano, Hot Chocolate, Cocoa, and Cortado.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296" y="1492114"/>
            <a:ext cx="7018926" cy="321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8"/>
              </a:lnSpc>
            </a:pPr>
            <a:r>
              <a:rPr lang="en-US" sz="79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Total revenue from different coffee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7563202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61290" y="42991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295332" y="4713835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6723" y="5664313"/>
            <a:ext cx="7336779" cy="1778260"/>
            <a:chOff x="0" y="0"/>
            <a:chExt cx="1739088" cy="421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9088" cy="421513"/>
            </a:xfrm>
            <a:custGeom>
              <a:avLst/>
              <a:gdLst/>
              <a:ahLst/>
              <a:cxnLst/>
              <a:rect l="l" t="t" r="r" b="b"/>
              <a:pathLst>
                <a:path w="1739088" h="421513">
                  <a:moveTo>
                    <a:pt x="0" y="0"/>
                  </a:moveTo>
                  <a:lnTo>
                    <a:pt x="1739088" y="0"/>
                  </a:lnTo>
                  <a:lnTo>
                    <a:pt x="1739088" y="421513"/>
                  </a:lnTo>
                  <a:lnTo>
                    <a:pt x="0" y="42151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739088" cy="392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92519" y="8376356"/>
            <a:ext cx="3940236" cy="5455905"/>
            <a:chOff x="0" y="0"/>
            <a:chExt cx="933982" cy="12932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3982" cy="1293252"/>
            </a:xfrm>
            <a:custGeom>
              <a:avLst/>
              <a:gdLst/>
              <a:ahLst/>
              <a:cxnLst/>
              <a:rect l="l" t="t" r="r" b="b"/>
              <a:pathLst>
                <a:path w="933982" h="1293252">
                  <a:moveTo>
                    <a:pt x="0" y="0"/>
                  </a:moveTo>
                  <a:lnTo>
                    <a:pt x="933982" y="0"/>
                  </a:lnTo>
                  <a:lnTo>
                    <a:pt x="933982" y="1293252"/>
                  </a:lnTo>
                  <a:lnTo>
                    <a:pt x="0" y="129325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933982" cy="1264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3670" y="5753634"/>
            <a:ext cx="7178209" cy="1620253"/>
          </a:xfrm>
          <a:custGeom>
            <a:avLst/>
            <a:gdLst/>
            <a:ahLst/>
            <a:cxnLst/>
            <a:rect l="l" t="t" r="r" b="b"/>
            <a:pathLst>
              <a:path w="7178209" h="1620253">
                <a:moveTo>
                  <a:pt x="0" y="0"/>
                </a:moveTo>
                <a:lnTo>
                  <a:pt x="7178209" y="0"/>
                </a:lnTo>
                <a:lnTo>
                  <a:pt x="7178209" y="1620253"/>
                </a:lnTo>
                <a:lnTo>
                  <a:pt x="0" y="1620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071" b="-27877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88245" y="8038192"/>
            <a:ext cx="4776739" cy="5924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Peak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sales occur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April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showing the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highest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customer demand.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Sales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drop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sharply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May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and stay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low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through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July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A recovery begins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August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with sales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rising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again.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October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shows another strong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increase 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sales.</a:t>
            </a:r>
          </a:p>
          <a:p>
            <a:pPr marL="508308" lvl="1" indent="-254154" algn="l">
              <a:lnSpc>
                <a:spcPts val="3649"/>
              </a:lnSpc>
              <a:buFont typeface="Arial"/>
              <a:buChar char="•"/>
            </a:pP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 Sales fall again in </a:t>
            </a:r>
            <a:r>
              <a:rPr lang="en-US" sz="2354" b="1" spc="6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November</a:t>
            </a:r>
            <a:r>
              <a:rPr lang="en-US" sz="2354" spc="6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ending the year lower.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72261" y="8487052"/>
            <a:ext cx="3739339" cy="5259416"/>
          </a:xfrm>
          <a:custGeom>
            <a:avLst/>
            <a:gdLst/>
            <a:ahLst/>
            <a:cxnLst/>
            <a:rect l="l" t="t" r="r" b="b"/>
            <a:pathLst>
              <a:path w="3739339" h="5259416">
                <a:moveTo>
                  <a:pt x="0" y="0"/>
                </a:moveTo>
                <a:lnTo>
                  <a:pt x="3739339" y="0"/>
                </a:lnTo>
                <a:lnTo>
                  <a:pt x="3739339" y="5259416"/>
                </a:lnTo>
                <a:lnTo>
                  <a:pt x="0" y="5259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7530" r="-14530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3000" y="1467298"/>
            <a:ext cx="8126066" cy="343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3"/>
              </a:lnSpc>
            </a:pPr>
            <a:r>
              <a:rPr lang="en-US" sz="84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Top-Selling Coffee Varieties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7563202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83288" y="222164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3670" y="769476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5120">
            <a:off x="1295332" y="4799560"/>
            <a:ext cx="3024980" cy="185173"/>
          </a:xfrm>
          <a:custGeom>
            <a:avLst/>
            <a:gdLst/>
            <a:ahLst/>
            <a:cxnLst/>
            <a:rect l="l" t="t" r="r" b="b"/>
            <a:pathLst>
              <a:path w="3024980" h="185173">
                <a:moveTo>
                  <a:pt x="0" y="0"/>
                </a:moveTo>
                <a:lnTo>
                  <a:pt x="3024980" y="0"/>
                </a:lnTo>
                <a:lnTo>
                  <a:pt x="3024980" y="185174"/>
                </a:lnTo>
                <a:lnTo>
                  <a:pt x="0" y="18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93670" y="5664313"/>
            <a:ext cx="8281032" cy="1437860"/>
            <a:chOff x="0" y="0"/>
            <a:chExt cx="1962911" cy="3408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2911" cy="340826"/>
            </a:xfrm>
            <a:custGeom>
              <a:avLst/>
              <a:gdLst/>
              <a:ahLst/>
              <a:cxnLst/>
              <a:rect l="l" t="t" r="r" b="b"/>
              <a:pathLst>
                <a:path w="1962911" h="340826">
                  <a:moveTo>
                    <a:pt x="0" y="0"/>
                  </a:moveTo>
                  <a:lnTo>
                    <a:pt x="1962911" y="0"/>
                  </a:lnTo>
                  <a:lnTo>
                    <a:pt x="1962911" y="340826"/>
                  </a:lnTo>
                  <a:lnTo>
                    <a:pt x="0" y="340826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962911" cy="312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" y="8185334"/>
            <a:ext cx="9321884" cy="4878916"/>
            <a:chOff x="0" y="0"/>
            <a:chExt cx="2209632" cy="11564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632" cy="1156484"/>
            </a:xfrm>
            <a:custGeom>
              <a:avLst/>
              <a:gdLst/>
              <a:ahLst/>
              <a:cxnLst/>
              <a:rect l="l" t="t" r="r" b="b"/>
              <a:pathLst>
                <a:path w="2209632" h="1156484">
                  <a:moveTo>
                    <a:pt x="0" y="0"/>
                  </a:moveTo>
                  <a:lnTo>
                    <a:pt x="2209632" y="0"/>
                  </a:lnTo>
                  <a:lnTo>
                    <a:pt x="2209632" y="1156484"/>
                  </a:lnTo>
                  <a:lnTo>
                    <a:pt x="0" y="115648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2209632" cy="1127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67377" y="5779592"/>
            <a:ext cx="8118122" cy="1212974"/>
          </a:xfrm>
          <a:custGeom>
            <a:avLst/>
            <a:gdLst/>
            <a:ahLst/>
            <a:cxnLst/>
            <a:rect l="l" t="t" r="r" b="b"/>
            <a:pathLst>
              <a:path w="8118122" h="1212974">
                <a:moveTo>
                  <a:pt x="0" y="0"/>
                </a:moveTo>
                <a:lnTo>
                  <a:pt x="8118122" y="0"/>
                </a:lnTo>
                <a:lnTo>
                  <a:pt x="8118122" y="1212974"/>
                </a:lnTo>
                <a:lnTo>
                  <a:pt x="0" y="1212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7607" b="-47228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6723" y="8299634"/>
            <a:ext cx="9166189" cy="4691040"/>
          </a:xfrm>
          <a:custGeom>
            <a:avLst/>
            <a:gdLst/>
            <a:ahLst/>
            <a:cxnLst/>
            <a:rect l="l" t="t" r="r" b="b"/>
            <a:pathLst>
              <a:path w="9166189" h="4691040">
                <a:moveTo>
                  <a:pt x="0" y="0"/>
                </a:moveTo>
                <a:lnTo>
                  <a:pt x="9166189" y="0"/>
                </a:lnTo>
                <a:lnTo>
                  <a:pt x="9166189" y="4691040"/>
                </a:lnTo>
                <a:lnTo>
                  <a:pt x="0" y="4691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84" t="-31416" r="-18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3000" y="1467298"/>
            <a:ext cx="7018926" cy="343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3"/>
              </a:lnSpc>
            </a:pPr>
            <a:r>
              <a:rPr lang="en-US" sz="8479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Monthly Sales of all coffee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6723" y="5036809"/>
            <a:ext cx="4348261" cy="53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005" b="1" spc="7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Code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7563202"/>
            <a:ext cx="4348261" cy="52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905" b="1" spc="75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0" y="0"/>
                </a:moveTo>
                <a:lnTo>
                  <a:pt x="813885" y="0"/>
                </a:lnTo>
                <a:lnTo>
                  <a:pt x="813885" y="384746"/>
                </a:lnTo>
                <a:lnTo>
                  <a:pt x="0" y="384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18997" y="660715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2" y="747049"/>
                </a:moveTo>
                <a:lnTo>
                  <a:pt x="0" y="747049"/>
                </a:lnTo>
                <a:lnTo>
                  <a:pt x="0" y="0"/>
                </a:lnTo>
                <a:lnTo>
                  <a:pt x="1252692" y="0"/>
                </a:lnTo>
                <a:lnTo>
                  <a:pt x="1252692" y="74704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37423" y="8913371"/>
            <a:ext cx="6155153" cy="6155153"/>
          </a:xfrm>
          <a:custGeom>
            <a:avLst/>
            <a:gdLst/>
            <a:ahLst/>
            <a:cxnLst/>
            <a:rect l="l" t="t" r="r" b="b"/>
            <a:pathLst>
              <a:path w="6155153" h="6155153">
                <a:moveTo>
                  <a:pt x="0" y="0"/>
                </a:moveTo>
                <a:lnTo>
                  <a:pt x="6155154" y="0"/>
                </a:lnTo>
                <a:lnTo>
                  <a:pt x="6155154" y="6155154"/>
                </a:lnTo>
                <a:lnTo>
                  <a:pt x="0" y="6155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18997" y="1587807"/>
            <a:ext cx="8704257" cy="259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9562" b="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Strategies to enhance sales</a:t>
            </a:r>
          </a:p>
        </p:txBody>
      </p:sp>
      <p:sp>
        <p:nvSpPr>
          <p:cNvPr id="7" name="Freeform 7"/>
          <p:cNvSpPr/>
          <p:nvPr/>
        </p:nvSpPr>
        <p:spPr>
          <a:xfrm rot="75120">
            <a:off x="1321655" y="4296920"/>
            <a:ext cx="4839411" cy="296243"/>
          </a:xfrm>
          <a:custGeom>
            <a:avLst/>
            <a:gdLst/>
            <a:ahLst/>
            <a:cxnLst/>
            <a:rect l="l" t="t" r="r" b="b"/>
            <a:pathLst>
              <a:path w="4839411" h="296243">
                <a:moveTo>
                  <a:pt x="0" y="0"/>
                </a:moveTo>
                <a:lnTo>
                  <a:pt x="4839412" y="0"/>
                </a:lnTo>
                <a:lnTo>
                  <a:pt x="4839412" y="296243"/>
                </a:lnTo>
                <a:lnTo>
                  <a:pt x="0" y="296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87463" y="106350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55250" y="4636473"/>
            <a:ext cx="8968003" cy="889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829" lvl="1" indent="-286415" algn="l">
              <a:lnSpc>
                <a:spcPts val="3714"/>
              </a:lnSpc>
              <a:buFont typeface="Arial"/>
              <a:buChar char="•"/>
            </a:pP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Premium coffees like  </a:t>
            </a: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Cocoa, Cappuccino , Hot Chocolate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are underperforming. So we should start offer campaigns with </a:t>
            </a: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combos, tasting samples and loyalty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>
              <a:lnSpc>
                <a:spcPts val="3714"/>
              </a:lnSpc>
            </a:pPr>
            <a:endParaRPr lang="en-US" sz="2653" spc="68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72829" lvl="1" indent="-286415" algn="l">
              <a:lnSpc>
                <a:spcPts val="3847"/>
              </a:lnSpc>
              <a:buFont typeface="Arial"/>
              <a:buChar char="•"/>
            </a:pP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Slightly reducing prices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or introducing </a:t>
            </a: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smaller cup sizes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can help premium coffees become more attractive to price-sensitive customers.</a:t>
            </a:r>
          </a:p>
          <a:p>
            <a:pPr algn="l">
              <a:lnSpc>
                <a:spcPts val="3847"/>
              </a:lnSpc>
            </a:pPr>
            <a:endParaRPr lang="en-US" sz="2653" spc="68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72829" lvl="1" indent="-286415" algn="l">
              <a:lnSpc>
                <a:spcPts val="3847"/>
              </a:lnSpc>
              <a:buFont typeface="Arial"/>
              <a:buChar char="•"/>
            </a:pP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Pair top-selling drinks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like Latte with </a:t>
            </a:r>
            <a:r>
              <a:rPr lang="en-US" sz="2653" b="1" spc="68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slow-selling items</a:t>
            </a:r>
            <a:r>
              <a:rPr lang="en-US" sz="2653" spc="68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to encourage trials and increase total bill value.</a:t>
            </a:r>
          </a:p>
          <a:p>
            <a:pPr algn="just">
              <a:lnSpc>
                <a:spcPts val="6500"/>
              </a:lnSpc>
            </a:pPr>
            <a:endParaRPr lang="en-US" sz="2653" spc="68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72829" lvl="1" indent="-286415" algn="l">
              <a:lnSpc>
                <a:spcPts val="3687"/>
              </a:lnSpc>
              <a:buFont typeface="Arial"/>
              <a:buChar char="•"/>
            </a:pPr>
            <a:r>
              <a:rPr lang="en-US" sz="2653" b="1" spc="140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 with Milk, Americano ,Latte</a:t>
            </a:r>
            <a:r>
              <a:rPr lang="en-US" sz="2653" spc="140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are customers favourite. So we should make some combos that </a:t>
            </a:r>
            <a:r>
              <a:rPr lang="en-US" sz="2653" b="1" spc="140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can attract</a:t>
            </a:r>
            <a:r>
              <a:rPr lang="en-US" sz="2653" spc="140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more customers.</a:t>
            </a:r>
          </a:p>
          <a:p>
            <a:pPr algn="l">
              <a:lnSpc>
                <a:spcPts val="3687"/>
              </a:lnSpc>
            </a:pPr>
            <a:endParaRPr lang="en-US" sz="2653" spc="140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847"/>
              </a:lnSpc>
            </a:pPr>
            <a:endParaRPr lang="en-US" sz="2653" spc="140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9491" y="7859047"/>
            <a:ext cx="7149878" cy="7149878"/>
          </a:xfrm>
          <a:custGeom>
            <a:avLst/>
            <a:gdLst/>
            <a:ahLst/>
            <a:cxnLst/>
            <a:rect l="l" t="t" r="r" b="b"/>
            <a:pathLst>
              <a:path w="7149878" h="7149878">
                <a:moveTo>
                  <a:pt x="0" y="0"/>
                </a:moveTo>
                <a:lnTo>
                  <a:pt x="7149878" y="0"/>
                </a:lnTo>
                <a:lnTo>
                  <a:pt x="7149878" y="7149878"/>
                </a:lnTo>
                <a:lnTo>
                  <a:pt x="0" y="7149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3000" y="2408540"/>
            <a:ext cx="9453407" cy="730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5"/>
              </a:lnSpc>
            </a:pPr>
            <a:endParaRPr/>
          </a:p>
          <a:p>
            <a:pPr marL="562948" lvl="1" indent="-281474" algn="l">
              <a:lnSpc>
                <a:spcPts val="4145"/>
              </a:lnSpc>
              <a:buFont typeface="Arial"/>
              <a:buChar char="•"/>
            </a:pP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In the month of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April, May, June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July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there is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sharp decline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of customer visit, so we should start campaign in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social media, SMS promotions, and café posters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to maintain customers. In the high traffic months we should push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some extra discounts and combos and launch premium bundles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to increase per-customer revenue.</a:t>
            </a:r>
          </a:p>
          <a:p>
            <a:pPr algn="l">
              <a:lnSpc>
                <a:spcPts val="4145"/>
              </a:lnSpc>
            </a:pPr>
            <a:endParaRPr lang="en-US" sz="2607" spc="151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4145"/>
              </a:lnSpc>
            </a:pPr>
            <a:endParaRPr lang="en-US" sz="2607" spc="151">
              <a:solidFill>
                <a:srgbClr val="FFF4E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62948" lvl="1" indent="-281474" algn="l">
              <a:lnSpc>
                <a:spcPts val="4145"/>
              </a:lnSpc>
              <a:buFont typeface="Arial"/>
              <a:buChar char="•"/>
            </a:pP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We can see that most number of months sales of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Americano with Milk and Latte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is most so we should think about to </a:t>
            </a:r>
            <a:r>
              <a:rPr lang="en-US" sz="2607" b="1" spc="151">
                <a:solidFill>
                  <a:srgbClr val="FFF4E2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increase the price</a:t>
            </a:r>
            <a:r>
              <a:rPr lang="en-US" sz="2607" spc="151">
                <a:solidFill>
                  <a:srgbClr val="FFF4E2"/>
                </a:solidFill>
                <a:latin typeface="Raleway"/>
                <a:ea typeface="Raleway"/>
                <a:cs typeface="Raleway"/>
                <a:sym typeface="Raleway"/>
              </a:rPr>
              <a:t> of this coffees to get maximum profit,</a:t>
            </a:r>
          </a:p>
        </p:txBody>
      </p:sp>
      <p:sp>
        <p:nvSpPr>
          <p:cNvPr id="4" name="Freeform 4"/>
          <p:cNvSpPr/>
          <p:nvPr/>
        </p:nvSpPr>
        <p:spPr>
          <a:xfrm>
            <a:off x="8185859" y="222164"/>
            <a:ext cx="2989957" cy="2848614"/>
          </a:xfrm>
          <a:custGeom>
            <a:avLst/>
            <a:gdLst/>
            <a:ahLst/>
            <a:cxnLst/>
            <a:rect l="l" t="t" r="r" b="b"/>
            <a:pathLst>
              <a:path w="2989957" h="2848614">
                <a:moveTo>
                  <a:pt x="0" y="0"/>
                </a:moveTo>
                <a:lnTo>
                  <a:pt x="2989958" y="0"/>
                </a:lnTo>
                <a:lnTo>
                  <a:pt x="2989958" y="2848614"/>
                </a:lnTo>
                <a:lnTo>
                  <a:pt x="0" y="284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32880" y="13821124"/>
            <a:ext cx="942936" cy="24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>
                <a:solidFill>
                  <a:srgbClr val="FFF4E2">
                    <a:alpha val="72941"/>
                  </a:srgbClr>
                </a:solidFill>
                <a:latin typeface="Raleway"/>
                <a:ea typeface="Raleway"/>
                <a:cs typeface="Raleway"/>
                <a:sym typeface="Raleway"/>
              </a:rPr>
              <a:t>page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1430000" cy="14287500"/>
          </a:xfrm>
          <a:custGeom>
            <a:avLst/>
            <a:gdLst/>
            <a:ahLst/>
            <a:cxnLst/>
            <a:rect l="l" t="t" r="r" b="b"/>
            <a:pathLst>
              <a:path w="11430000" h="142875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r="-438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55426" y="-47698"/>
            <a:ext cx="3135654" cy="3677206"/>
          </a:xfrm>
          <a:custGeom>
            <a:avLst/>
            <a:gdLst/>
            <a:ahLst/>
            <a:cxnLst/>
            <a:rect l="l" t="t" r="r" b="b"/>
            <a:pathLst>
              <a:path w="3135654" h="3677206">
                <a:moveTo>
                  <a:pt x="0" y="0"/>
                </a:moveTo>
                <a:lnTo>
                  <a:pt x="3135654" y="0"/>
                </a:lnTo>
                <a:lnTo>
                  <a:pt x="3135654" y="3677206"/>
                </a:lnTo>
                <a:lnTo>
                  <a:pt x="0" y="3677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99043" y="768970"/>
            <a:ext cx="1824211" cy="2139267"/>
          </a:xfrm>
          <a:custGeom>
            <a:avLst/>
            <a:gdLst/>
            <a:ahLst/>
            <a:cxnLst/>
            <a:rect l="l" t="t" r="r" b="b"/>
            <a:pathLst>
              <a:path w="1824211" h="2139267">
                <a:moveTo>
                  <a:pt x="0" y="0"/>
                </a:moveTo>
                <a:lnTo>
                  <a:pt x="1824211" y="0"/>
                </a:lnTo>
                <a:lnTo>
                  <a:pt x="1824211" y="2139266"/>
                </a:lnTo>
                <a:lnTo>
                  <a:pt x="0" y="2139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52444" y="12802583"/>
            <a:ext cx="3848164" cy="3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8"/>
              </a:lnSpc>
              <a:spcBef>
                <a:spcPct val="0"/>
              </a:spcBef>
            </a:pPr>
            <a:r>
              <a:rPr lang="en-US" sz="2456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nsaha3827@gmail.com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9209369" y="12710484"/>
            <a:ext cx="813884" cy="384745"/>
          </a:xfrm>
          <a:custGeom>
            <a:avLst/>
            <a:gdLst/>
            <a:ahLst/>
            <a:cxnLst/>
            <a:rect l="l" t="t" r="r" b="b"/>
            <a:pathLst>
              <a:path w="813884" h="384745">
                <a:moveTo>
                  <a:pt x="813885" y="0"/>
                </a:moveTo>
                <a:lnTo>
                  <a:pt x="0" y="0"/>
                </a:lnTo>
                <a:lnTo>
                  <a:pt x="0" y="384746"/>
                </a:lnTo>
                <a:lnTo>
                  <a:pt x="813885" y="384746"/>
                </a:lnTo>
                <a:lnTo>
                  <a:pt x="81388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43000" y="4098432"/>
            <a:ext cx="8473311" cy="1902427"/>
            <a:chOff x="0" y="0"/>
            <a:chExt cx="1881918" cy="4225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1918" cy="422528"/>
            </a:xfrm>
            <a:custGeom>
              <a:avLst/>
              <a:gdLst/>
              <a:ahLst/>
              <a:cxnLst/>
              <a:rect l="l" t="t" r="r" b="b"/>
              <a:pathLst>
                <a:path w="1881918" h="422528">
                  <a:moveTo>
                    <a:pt x="0" y="0"/>
                  </a:moveTo>
                  <a:lnTo>
                    <a:pt x="1881918" y="0"/>
                  </a:lnTo>
                  <a:lnTo>
                    <a:pt x="1881918" y="422528"/>
                  </a:lnTo>
                  <a:lnTo>
                    <a:pt x="0" y="4225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81918" cy="460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9832" y="4174632"/>
            <a:ext cx="8787168" cy="173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7"/>
              </a:lnSpc>
            </a:pPr>
            <a:r>
              <a:rPr lang="en-US" sz="6359" b="1">
                <a:solidFill>
                  <a:srgbClr val="FFBD59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 for your time and attention.</a:t>
            </a:r>
          </a:p>
        </p:txBody>
      </p:sp>
      <p:sp>
        <p:nvSpPr>
          <p:cNvPr id="11" name="Freeform 11"/>
          <p:cNvSpPr/>
          <p:nvPr/>
        </p:nvSpPr>
        <p:spPr>
          <a:xfrm flipH="1" flipV="1">
            <a:off x="1556359" y="2623598"/>
            <a:ext cx="1252693" cy="747049"/>
          </a:xfrm>
          <a:custGeom>
            <a:avLst/>
            <a:gdLst/>
            <a:ahLst/>
            <a:cxnLst/>
            <a:rect l="l" t="t" r="r" b="b"/>
            <a:pathLst>
              <a:path w="1252693" h="747049">
                <a:moveTo>
                  <a:pt x="1252693" y="747048"/>
                </a:moveTo>
                <a:lnTo>
                  <a:pt x="0" y="747048"/>
                </a:lnTo>
                <a:lnTo>
                  <a:pt x="0" y="0"/>
                </a:lnTo>
                <a:lnTo>
                  <a:pt x="1252693" y="0"/>
                </a:lnTo>
                <a:lnTo>
                  <a:pt x="1252693" y="74704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56359" y="5207830"/>
            <a:ext cx="7963868" cy="52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3"/>
              </a:lnSpc>
            </a:pPr>
            <a:endParaRPr/>
          </a:p>
          <a:p>
            <a:pPr algn="l">
              <a:lnSpc>
                <a:spcPts val="8183"/>
              </a:lnSpc>
            </a:pPr>
            <a:r>
              <a:rPr lang="en-US" sz="7793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 appreciate the opportunity to present this analysis.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0" y="13429539"/>
            <a:ext cx="942936" cy="24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687" b="1">
                <a:solidFill>
                  <a:srgbClr val="000000">
                    <a:alpha val="72941"/>
                  </a:srgbClr>
                </a:solidFill>
                <a:latin typeface="Raleway Bold"/>
                <a:ea typeface="Raleway Bold"/>
                <a:cs typeface="Raleway Bold"/>
                <a:sym typeface="Raleway Bold"/>
              </a:rPr>
              <a:t>page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782</Words>
  <Application>Microsoft Office PowerPoint</Application>
  <PresentationFormat>Custom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Raleway Bold</vt:lpstr>
      <vt:lpstr>Calibri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Cream Minimalist Build Personal Brand LinkedIn Carousel</dc:title>
  <cp:lastModifiedBy>Niloy saha</cp:lastModifiedBy>
  <cp:revision>2</cp:revision>
  <dcterms:created xsi:type="dcterms:W3CDTF">2006-08-16T00:00:00Z</dcterms:created>
  <dcterms:modified xsi:type="dcterms:W3CDTF">2025-12-22T12:16:49Z</dcterms:modified>
  <dc:identifier>DAG41-FnnGU</dc:identifier>
</cp:coreProperties>
</file>